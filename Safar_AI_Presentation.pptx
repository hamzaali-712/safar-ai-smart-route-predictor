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D4AA"/>
                </a:solidFill>
                <a:latin typeface="Arial"/>
              </a:defRPr>
            </a:pPr>
            <a:r>
              <a:rPr lang="fr-FR" sz="1000" b="0" i="0" u="none" strike="noStrike">
                <a:solidFill>
                  <a:srgbClr val="00D4AA"/>
                </a:solidFill>
                <a:latin typeface="Arial"/>
              </a:rPr>
              <a:t>Sample Route Score Comparison (0–100)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Route Score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46-4973-BEF6-B6C7836C63B1}"/>
              </c:ext>
            </c:extLst>
          </c:dPt>
          <c:dPt>
            <c:idx val="1"/>
            <c:invertIfNegative val="0"/>
            <c:bubble3D val="0"/>
            <c:spPr>
              <a:solidFill>
                <a:srgbClr val="FFB7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46-4973-BEF6-B6C7836C63B1}"/>
              </c:ext>
            </c:extLst>
          </c:dPt>
          <c:dPt>
            <c:idx val="2"/>
            <c:invertIfNegative val="0"/>
            <c:bubble3D val="0"/>
            <c:spPr>
              <a:solidFill>
                <a:srgbClr val="90A4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46-4973-BEF6-B6C7836C63B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AFAFA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M-2 Motorway
(Best)</c:v>
                </c:pt>
                <c:pt idx="1">
                  <c:v>GT Road
(Alt 1)</c:v>
                </c:pt>
                <c:pt idx="2">
                  <c:v>Local Roads
(Alt 2)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87.5</c:v>
                </c:pt>
                <c:pt idx="1">
                  <c:v>71.2</c:v>
                </c:pt>
                <c:pt idx="2">
                  <c:v>58.8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46-4973-BEF6-B6C7836C63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F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F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70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hyperlink" Target="https://github.com/hamzaali-712/Safar-AI-Smart-Route-Predictor.g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safar-ai-smart-route.streamlit.app/" TargetMode="Externa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github.com/hamzaali-712/Safar-AI-Smart-Route-Predictor.g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safar-ai-smart-route.streamlit.app/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57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600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 AI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8288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 Predictor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2788920"/>
            <a:ext cx="27432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228600" y="2926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Ali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124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Shahzaib Shoaib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098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Adnan Shah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065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 — Wah Campus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" y="4709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749040" y="9144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First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749040" y="1371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749040" y="2148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Intelligence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749040" y="26974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3749040" y="3474720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009E7F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3749040" y="34747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74920" y="3474720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009E7F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074920" y="34747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363263" y="3474720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009E7F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6405654" y="34747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 + OSRM</a:t>
            </a:r>
            <a:endParaRPr lang="en-US" sz="9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114800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023360" y="4087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github.com/hamzaali-712/Safar-AI-Smart-Route-Predictor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Overview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Safar AI?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 AI is a Streamlit-based web application that helps commuters, travelers, and logistics managers make smart travel decisions across Pakistan. It fetches best routes, scores them with AI, and delivers real-time insights through an interactive dashboard.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0040" y="2606040"/>
            <a:ext cx="4114800" cy="14173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320040" y="2606040"/>
            <a:ext cx="64008" cy="14173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45720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01752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AI-powered route tool for Pakistan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 causes millions in losses daily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lack safety and cost intelligence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4114800"/>
            <a:ext cx="4114800" cy="777240"/>
          </a:xfrm>
          <a:prstGeom prst="rect">
            <a:avLst/>
          </a:prstGeom>
          <a:solidFill>
            <a:srgbClr val="0D2E26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457200" y="4206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 Solution: Safar AI bridges this gap with real-time scoring, ML predictions, and a bilingual AI chatbot (Urdu + English).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1005840"/>
            <a:ext cx="1920240" cy="18288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170432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4632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484632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 Factors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846320" y="3017520"/>
            <a:ext cx="1920240" cy="18288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182112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6"/>
          <p:cNvSpPr/>
          <p:nvPr/>
        </p:nvSpPr>
        <p:spPr>
          <a:xfrm>
            <a:off x="484632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Alternatives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949440" y="1005840"/>
            <a:ext cx="1920240" cy="18288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170432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25" name="Text 19"/>
          <p:cNvSpPr/>
          <p:nvPr/>
        </p:nvSpPr>
        <p:spPr>
          <a:xfrm>
            <a:off x="694944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Cities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949440" y="3017520"/>
            <a:ext cx="1920240" cy="18288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3182112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4944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29" name="Text 22"/>
          <p:cNvSpPr/>
          <p:nvPr/>
        </p:nvSpPr>
        <p:spPr>
          <a:xfrm>
            <a:off x="694944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— AI Scoring Engine + ML Prediction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8503920" cy="685800"/>
          </a:xfrm>
          <a:prstGeom prst="rect">
            <a:avLst/>
          </a:prstGeom>
          <a:solidFill>
            <a:srgbClr val="101A28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411480" y="10058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=  0.30 × Time  +  0.15 × Distance  +  0.25 × Safety  +  0.20 × Congestion  +  0.10 × Cost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0040" y="1783080"/>
            <a:ext cx="1600200" cy="25146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320040" y="1783080"/>
            <a:ext cx="16002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19202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2514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2004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Score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65760" y="3310128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route wins.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min_time ÷ route_time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039112" y="1783080"/>
            <a:ext cx="1600200" cy="25146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1"/>
          <p:cNvSpPr/>
          <p:nvPr/>
        </p:nvSpPr>
        <p:spPr>
          <a:xfrm>
            <a:off x="2039112" y="1783080"/>
            <a:ext cx="16002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4892" y="19202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39112" y="2514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2039112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084832" y="3310128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route preferred.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min_dist ÷ route_dist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758184" y="1783080"/>
            <a:ext cx="1600200" cy="25146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6"/>
          <p:cNvSpPr/>
          <p:nvPr/>
        </p:nvSpPr>
        <p:spPr>
          <a:xfrm>
            <a:off x="3758184" y="1783080"/>
            <a:ext cx="160020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3964" y="192024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758184" y="2514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3758184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3803904" y="3310128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+ road type + time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day modifiers (0–100)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5477256" y="1783080"/>
            <a:ext cx="1600200" cy="25146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1"/>
          <p:cNvSpPr/>
          <p:nvPr/>
        </p:nvSpPr>
        <p:spPr>
          <a:xfrm>
            <a:off x="5477256" y="1783080"/>
            <a:ext cx="1600200" cy="6400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3036" y="1920240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77256" y="2514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600" dirty="0"/>
          </a:p>
        </p:txBody>
      </p:sp>
      <p:sp>
        <p:nvSpPr>
          <p:cNvPr id="30" name="Text 23"/>
          <p:cNvSpPr/>
          <p:nvPr/>
        </p:nvSpPr>
        <p:spPr>
          <a:xfrm>
            <a:off x="5477256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522976" y="3310128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XGBoost blockage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(0.0–1.0)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7196328" y="1783080"/>
            <a:ext cx="1600200" cy="25146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Shape 26"/>
          <p:cNvSpPr/>
          <p:nvPr/>
        </p:nvSpPr>
        <p:spPr>
          <a:xfrm>
            <a:off x="7196328" y="1783080"/>
            <a:ext cx="1600200" cy="64008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2108" y="1920240"/>
            <a:ext cx="548640" cy="5486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96328" y="2514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600" dirty="0"/>
          </a:p>
        </p:txBody>
      </p:sp>
      <p:sp>
        <p:nvSpPr>
          <p:cNvPr id="36" name="Text 28"/>
          <p:cNvSpPr/>
          <p:nvPr/>
        </p:nvSpPr>
        <p:spPr>
          <a:xfrm>
            <a:off x="7196328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Score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7242048" y="3310128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fuel+toll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wins (PKR)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320040" y="4434840"/>
            <a:ext cx="8503920" cy="548640"/>
          </a:xfrm>
          <a:prstGeom prst="rect">
            <a:avLst/>
          </a:prstGeom>
          <a:solidFill>
            <a:srgbClr val="1A0E2E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07992"/>
            <a:ext cx="347472" cy="34747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686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ML Model  </a:t>
            </a: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Trained on 5,000 synthetic Pakistan traffic samples    •  9 features: hour, day, month, zone, road type, weather risk  </a:t>
            </a: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Outputs blockage probability 0.0–1.0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— Tools, APIs &amp; Libraries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4160520" cy="178308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64008" cy="1783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143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Viz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02920" y="155448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1.32+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streamlit-folium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(Leaflet maps)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(charts/gauges)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54880" y="1005840"/>
            <a:ext cx="4160520" cy="178308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8"/>
          <p:cNvSpPr/>
          <p:nvPr/>
        </p:nvSpPr>
        <p:spPr>
          <a:xfrm>
            <a:off x="4754880" y="1005840"/>
            <a:ext cx="64008" cy="1783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14300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9240" y="1143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APIs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937760" y="155448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OpenRouteService (ORS)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Free Fallback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Geopy / Nominatim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fuzzywuzzy matching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20040" y="2926080"/>
            <a:ext cx="4160520" cy="178308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2"/>
          <p:cNvSpPr/>
          <p:nvPr/>
        </p:nvSpPr>
        <p:spPr>
          <a:xfrm>
            <a:off x="320040" y="2926080"/>
            <a:ext cx="64008" cy="178308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6324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063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02920" y="347472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— Llama 3.3 70B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(model save/load)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754880" y="2926080"/>
            <a:ext cx="4160520" cy="178308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6"/>
          <p:cNvSpPr/>
          <p:nvPr/>
        </p:nvSpPr>
        <p:spPr>
          <a:xfrm>
            <a:off x="4754880" y="2926080"/>
            <a:ext cx="64008" cy="178308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06324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3063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Backend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937760" y="347472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 (NLP)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(config)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0D2E26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0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All tools &amp; APIs are FREE — no paid dependencies required  ★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54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Module Flow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82880" y="914400"/>
            <a:ext cx="1097280" cy="502920"/>
          </a:xfrm>
          <a:prstGeom prst="rect">
            <a:avLst/>
          </a:prstGeom>
          <a:solidFill>
            <a:srgbClr val="1E2A1A"/>
          </a:solidFill>
          <a:ln w="12700">
            <a:solidFill>
              <a:srgbClr val="1E2A1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182880" y="914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Browser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298448" y="1161288"/>
            <a:ext cx="438912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1572768" y="1078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A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755648" y="914400"/>
            <a:ext cx="13716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1755648" y="914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 UI)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45536" y="1161288"/>
            <a:ext cx="347472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3328416" y="1078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A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511296" y="868680"/>
            <a:ext cx="2286000" cy="1371600"/>
          </a:xfrm>
          <a:prstGeom prst="rect">
            <a:avLst/>
          </a:prstGeom>
          <a:solidFill>
            <a:srgbClr val="0D1F12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3511296" y="868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Layer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566160" y="1143000"/>
            <a:ext cx="1005840" cy="29260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3566160" y="1143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routing.py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63440" y="1143000"/>
            <a:ext cx="1005840" cy="29260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4663440" y="1143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scoring.py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566160" y="1481328"/>
            <a:ext cx="1005840" cy="29260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3566160" y="14813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safety.py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63440" y="1481328"/>
            <a:ext cx="1005840" cy="29260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4663440" y="14813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eta.py / cost.py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114800" y="1819656"/>
            <a:ext cx="1005840" cy="29260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4114800" y="18196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blockage.py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815584" y="1161288"/>
            <a:ext cx="347472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5998464" y="1078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A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181344" y="868680"/>
            <a:ext cx="2377440" cy="1371600"/>
          </a:xfrm>
          <a:prstGeom prst="rect">
            <a:avLst/>
          </a:prstGeom>
          <a:solidFill>
            <a:srgbClr val="1F0D0D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6181344" y="868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236208" y="1143000"/>
            <a:ext cx="2194560" cy="292608"/>
          </a:xfrm>
          <a:prstGeom prst="rect">
            <a:avLst/>
          </a:prstGeom>
          <a:solidFill>
            <a:srgbClr val="2E1414"/>
          </a:solidFill>
          <a:ln w="12700">
            <a:solidFill>
              <a:srgbClr val="2E1414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6236208" y="1143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OpenRouteService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236208" y="1481328"/>
            <a:ext cx="2194560" cy="292608"/>
          </a:xfrm>
          <a:prstGeom prst="rect">
            <a:avLst/>
          </a:prstGeom>
          <a:solidFill>
            <a:srgbClr val="2E1414"/>
          </a:solidFill>
          <a:ln w="12700">
            <a:solidFill>
              <a:srgbClr val="2E1414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Text 30"/>
          <p:cNvSpPr/>
          <p:nvPr/>
        </p:nvSpPr>
        <p:spPr>
          <a:xfrm>
            <a:off x="6236208" y="1481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(Fallback)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236208" y="1819656"/>
            <a:ext cx="2194560" cy="292608"/>
          </a:xfrm>
          <a:prstGeom prst="rect">
            <a:avLst/>
          </a:prstGeom>
          <a:solidFill>
            <a:srgbClr val="2E1414"/>
          </a:solidFill>
          <a:ln w="12700">
            <a:solidFill>
              <a:srgbClr val="2E1414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6236208" y="18196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(LLM)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1417320" y="1435608"/>
            <a:ext cx="0" cy="530352"/>
          </a:xfrm>
          <a:prstGeom prst="line">
            <a:avLst/>
          </a:prstGeom>
          <a:noFill/>
          <a:ln w="1524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1344168" y="1828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▼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54296" y="2130552"/>
            <a:ext cx="0" cy="457200"/>
          </a:xfrm>
          <a:prstGeom prst="line">
            <a:avLst/>
          </a:prstGeom>
          <a:noFill/>
          <a:ln w="1524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6"/>
          <p:cNvSpPr/>
          <p:nvPr/>
        </p:nvSpPr>
        <p:spPr>
          <a:xfrm>
            <a:off x="4581144" y="2450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▼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77240" y="1965960"/>
            <a:ext cx="13716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Text 38"/>
          <p:cNvSpPr/>
          <p:nvPr/>
        </p:nvSpPr>
        <p:spPr>
          <a:xfrm>
            <a:off x="777240" y="1965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widgets.py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286000" y="1965960"/>
            <a:ext cx="1554480" cy="685800"/>
          </a:xfrm>
          <a:prstGeom prst="rect">
            <a:avLst/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Text 40"/>
          <p:cNvSpPr/>
          <p:nvPr/>
        </p:nvSpPr>
        <p:spPr>
          <a:xfrm>
            <a:off x="228600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Layer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base_map.py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route_layer.py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blockage_layer.py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3977640" y="2606040"/>
            <a:ext cx="2103120" cy="777240"/>
          </a:xfrm>
          <a:prstGeom prst="rect">
            <a:avLst/>
          </a:prstGeom>
          <a:solidFill>
            <a:srgbClr val="1A0E2E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2"/>
          <p:cNvSpPr/>
          <p:nvPr/>
        </p:nvSpPr>
        <p:spPr>
          <a:xfrm>
            <a:off x="3977640" y="2606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032504" y="2880360"/>
            <a:ext cx="914400" cy="256032"/>
          </a:xfrm>
          <a:prstGeom prst="rect">
            <a:avLst/>
          </a:prstGeom>
          <a:solidFill>
            <a:srgbClr val="2A1535"/>
          </a:solidFill>
          <a:ln w="12700">
            <a:solidFill>
              <a:srgbClr val="2A153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7" name="Text 44"/>
          <p:cNvSpPr/>
          <p:nvPr/>
        </p:nvSpPr>
        <p:spPr>
          <a:xfrm>
            <a:off x="4032504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train_blockage.py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074920" y="2880360"/>
            <a:ext cx="914400" cy="256032"/>
          </a:xfrm>
          <a:prstGeom prst="rect">
            <a:avLst/>
          </a:prstGeom>
          <a:solidFill>
            <a:srgbClr val="2A1535"/>
          </a:solidFill>
          <a:ln w="12700">
            <a:solidFill>
              <a:srgbClr val="2A153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Text 46"/>
          <p:cNvSpPr/>
          <p:nvPr/>
        </p:nvSpPr>
        <p:spPr>
          <a:xfrm>
            <a:off x="5074920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predict.py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032504" y="3172968"/>
            <a:ext cx="1956816" cy="182880"/>
          </a:xfrm>
          <a:prstGeom prst="rect">
            <a:avLst/>
          </a:prstGeom>
          <a:solidFill>
            <a:srgbClr val="2A1535"/>
          </a:solidFill>
          <a:ln w="12700">
            <a:solidFill>
              <a:srgbClr val="2A153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1" name="Text 48"/>
          <p:cNvSpPr/>
          <p:nvPr/>
        </p:nvSpPr>
        <p:spPr>
          <a:xfrm>
            <a:off x="4032504" y="317296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blockage_model.joblib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6181344" y="2606040"/>
            <a:ext cx="2377440" cy="822960"/>
          </a:xfrm>
          <a:prstGeom prst="rect">
            <a:avLst/>
          </a:prstGeom>
          <a:solidFill>
            <a:srgbClr val="1F1A0A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0"/>
          <p:cNvSpPr/>
          <p:nvPr/>
        </p:nvSpPr>
        <p:spPr>
          <a:xfrm>
            <a:off x="6181344" y="2606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(JSON)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236208" y="2880360"/>
            <a:ext cx="1051560" cy="219456"/>
          </a:xfrm>
          <a:prstGeom prst="rect">
            <a:avLst/>
          </a:prstGeom>
          <a:solidFill>
            <a:srgbClr val="2E2010"/>
          </a:solidFill>
          <a:ln w="12700">
            <a:solidFill>
              <a:srgbClr val="2E2010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5" name="Text 52"/>
          <p:cNvSpPr/>
          <p:nvPr/>
        </p:nvSpPr>
        <p:spPr>
          <a:xfrm>
            <a:off x="6236208" y="28803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pakistan_cities.json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7360920" y="2880360"/>
            <a:ext cx="1143000" cy="219456"/>
          </a:xfrm>
          <a:prstGeom prst="rect">
            <a:avLst/>
          </a:prstGeom>
          <a:solidFill>
            <a:srgbClr val="2E2010"/>
          </a:solidFill>
          <a:ln w="12700">
            <a:solidFill>
              <a:srgbClr val="2E2010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7" name="Text 54"/>
          <p:cNvSpPr/>
          <p:nvPr/>
        </p:nvSpPr>
        <p:spPr>
          <a:xfrm>
            <a:off x="7360920" y="288036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fuel_prices.json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6236208" y="3136392"/>
            <a:ext cx="2258568" cy="219456"/>
          </a:xfrm>
          <a:prstGeom prst="rect">
            <a:avLst/>
          </a:prstGeom>
          <a:solidFill>
            <a:srgbClr val="2E2010"/>
          </a:solidFill>
          <a:ln w="12700">
            <a:solidFill>
              <a:srgbClr val="2E2010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9" name="Text 56"/>
          <p:cNvSpPr/>
          <p:nvPr/>
        </p:nvSpPr>
        <p:spPr>
          <a:xfrm>
            <a:off x="6236208" y="3136392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safety_index.json  blockages.json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1508760" y="2651760"/>
            <a:ext cx="0" cy="384048"/>
          </a:xfrm>
          <a:prstGeom prst="line">
            <a:avLst/>
          </a:prstGeom>
          <a:noFill/>
          <a:ln w="1524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61" name="Text 58"/>
          <p:cNvSpPr/>
          <p:nvPr/>
        </p:nvSpPr>
        <p:spPr>
          <a:xfrm>
            <a:off x="1435608" y="28986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▼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3063240" y="2651760"/>
            <a:ext cx="0" cy="384048"/>
          </a:xfrm>
          <a:prstGeom prst="line">
            <a:avLst/>
          </a:prstGeom>
          <a:noFill/>
          <a:ln w="1524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63" name="Text 60"/>
          <p:cNvSpPr/>
          <p:nvPr/>
        </p:nvSpPr>
        <p:spPr>
          <a:xfrm>
            <a:off x="2990088" y="28986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▼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777240" y="3063240"/>
            <a:ext cx="1371600" cy="685800"/>
          </a:xfrm>
          <a:prstGeom prst="rect">
            <a:avLst/>
          </a:prstGeom>
          <a:solidFill>
            <a:srgbClr val="0A2E2E"/>
          </a:solidFill>
          <a:ln w="12700">
            <a:solidFill>
              <a:srgbClr val="0A2E2E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5" name="Text 62"/>
          <p:cNvSpPr/>
          <p:nvPr/>
        </p:nvSpPr>
        <p:spPr>
          <a:xfrm>
            <a:off x="777240" y="30632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chat.py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2286000" y="3063240"/>
            <a:ext cx="1554480" cy="685800"/>
          </a:xfrm>
          <a:prstGeom prst="rect">
            <a:avLst/>
          </a:prstGeom>
          <a:solidFill>
            <a:srgbClr val="0A2A1A"/>
          </a:solidFill>
          <a:ln w="12700">
            <a:solidFill>
              <a:srgbClr val="0A2A1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7" name="Text 64"/>
          <p:cNvSpPr/>
          <p:nvPr/>
        </p:nvSpPr>
        <p:spPr>
          <a:xfrm>
            <a:off x="2286000" y="3063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Raasta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raasta.py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intent.py  language.py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777240" y="3840480"/>
            <a:ext cx="13716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9" name="Text 66"/>
          <p:cNvSpPr/>
          <p:nvPr/>
        </p:nvSpPr>
        <p:spPr>
          <a:xfrm>
            <a:off x="777240" y="3840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utils/helpers.py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 · formatting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matching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2286000" y="3840480"/>
            <a:ext cx="155448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1" name="Text 68"/>
          <p:cNvSpPr/>
          <p:nvPr/>
        </p:nvSpPr>
        <p:spPr>
          <a:xfrm>
            <a:off x="2286000" y="3840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database/db.py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email_service/sender.py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3977640" y="4800600"/>
            <a:ext cx="182880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3" name="Text 70"/>
          <p:cNvSpPr/>
          <p:nvPr/>
        </p:nvSpPr>
        <p:spPr>
          <a:xfrm>
            <a:off x="4206240" y="4791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5074920" y="4800600"/>
            <a:ext cx="182880" cy="16459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5" name="Text 72"/>
          <p:cNvSpPr/>
          <p:nvPr/>
        </p:nvSpPr>
        <p:spPr>
          <a:xfrm>
            <a:off x="5303520" y="4791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6172200" y="4800600"/>
            <a:ext cx="182880" cy="16459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7" name="Text 74"/>
          <p:cNvSpPr/>
          <p:nvPr/>
        </p:nvSpPr>
        <p:spPr>
          <a:xfrm>
            <a:off x="6400800" y="4791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7269480" y="4800600"/>
            <a:ext cx="182880" cy="16459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9" name="Text 76"/>
          <p:cNvSpPr/>
          <p:nvPr/>
        </p:nvSpPr>
        <p:spPr>
          <a:xfrm>
            <a:off x="7498080" y="4791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8366760" y="4800600"/>
            <a:ext cx="182880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1" name="Text 78"/>
          <p:cNvSpPr/>
          <p:nvPr/>
        </p:nvSpPr>
        <p:spPr>
          <a:xfrm>
            <a:off x="8595360" y="4791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Benefits &amp; Analysis</a:t>
            </a:r>
            <a:endParaRPr lang="en-US" sz="2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60120"/>
          <a:ext cx="43891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892040" y="960120"/>
            <a:ext cx="3931920" cy="749808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4"/>
          <p:cNvSpPr/>
          <p:nvPr/>
        </p:nvSpPr>
        <p:spPr>
          <a:xfrm>
            <a:off x="4892040" y="960120"/>
            <a:ext cx="64008" cy="7498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106424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04688" y="10332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Routing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504688" y="13258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fallback guarantees routes even without any API key.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4892040" y="1801368"/>
            <a:ext cx="3931920" cy="749808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8"/>
          <p:cNvSpPr/>
          <p:nvPr/>
        </p:nvSpPr>
        <p:spPr>
          <a:xfrm>
            <a:off x="4892040" y="1801368"/>
            <a:ext cx="64008" cy="7498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94767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04688" y="1874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Intelligence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504688" y="216712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+ road type + time-of-day scoring for safe journeys.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892040" y="2642616"/>
            <a:ext cx="3931920" cy="749808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2"/>
          <p:cNvSpPr/>
          <p:nvPr/>
        </p:nvSpPr>
        <p:spPr>
          <a:xfrm>
            <a:off x="4892040" y="2642616"/>
            <a:ext cx="64008" cy="74980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7889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04688" y="27157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Chatbot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504688" y="300837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Raasta answers in Urdu or English with full route context.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320040" y="3913632"/>
            <a:ext cx="2057400" cy="914400"/>
          </a:xfrm>
          <a:prstGeom prst="rect">
            <a:avLst/>
          </a:prstGeom>
          <a:solidFill>
            <a:srgbClr val="101A28"/>
          </a:solidFill>
          <a:ln w="12700">
            <a:solidFill>
              <a:srgbClr val="009E7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16"/>
          <p:cNvSpPr/>
          <p:nvPr/>
        </p:nvSpPr>
        <p:spPr>
          <a:xfrm>
            <a:off x="320040" y="39684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320040" y="44256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Samples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2532888" y="3913632"/>
            <a:ext cx="2057400" cy="914400"/>
          </a:xfrm>
          <a:prstGeom prst="rect">
            <a:avLst/>
          </a:prstGeom>
          <a:solidFill>
            <a:srgbClr val="101A28"/>
          </a:solidFill>
          <a:ln w="12700">
            <a:solidFill>
              <a:srgbClr val="009E7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19"/>
          <p:cNvSpPr/>
          <p:nvPr/>
        </p:nvSpPr>
        <p:spPr>
          <a:xfrm>
            <a:off x="2532888" y="39684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85-95</a:t>
            </a:r>
            <a:endParaRPr lang="en-US" sz="2400" dirty="0"/>
          </a:p>
        </p:txBody>
      </p:sp>
      <p:sp>
        <p:nvSpPr>
          <p:cNvPr id="27" name="Text 20"/>
          <p:cNvSpPr/>
          <p:nvPr/>
        </p:nvSpPr>
        <p:spPr>
          <a:xfrm>
            <a:off x="2532888" y="44256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Route Score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745736" y="3913632"/>
            <a:ext cx="2057400" cy="914400"/>
          </a:xfrm>
          <a:prstGeom prst="rect">
            <a:avLst/>
          </a:prstGeom>
          <a:solidFill>
            <a:srgbClr val="101A28"/>
          </a:solidFill>
          <a:ln w="12700">
            <a:solidFill>
              <a:srgbClr val="009E7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2"/>
          <p:cNvSpPr/>
          <p:nvPr/>
        </p:nvSpPr>
        <p:spPr>
          <a:xfrm>
            <a:off x="4745736" y="39684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&lt;3s</a:t>
            </a:r>
            <a:endParaRPr lang="en-US" sz="2400" dirty="0"/>
          </a:p>
        </p:txBody>
      </p:sp>
      <p:sp>
        <p:nvSpPr>
          <p:cNvPr id="30" name="Text 23"/>
          <p:cNvSpPr/>
          <p:nvPr/>
        </p:nvSpPr>
        <p:spPr>
          <a:xfrm>
            <a:off x="4745736" y="44256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958584" y="3913632"/>
            <a:ext cx="2057400" cy="914400"/>
          </a:xfrm>
          <a:prstGeom prst="rect">
            <a:avLst/>
          </a:prstGeom>
          <a:solidFill>
            <a:srgbClr val="101A28"/>
          </a:solidFill>
          <a:ln w="12700">
            <a:solidFill>
              <a:srgbClr val="009E7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25"/>
          <p:cNvSpPr/>
          <p:nvPr/>
        </p:nvSpPr>
        <p:spPr>
          <a:xfrm>
            <a:off x="6958584" y="39684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33" name="Text 26"/>
          <p:cNvSpPr/>
          <p:nvPr/>
        </p:nvSpPr>
        <p:spPr>
          <a:xfrm>
            <a:off x="6958584" y="44256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Live on Streamlit Cloud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14400" y="1051560"/>
            <a:ext cx="7315200" cy="1463040"/>
          </a:xfrm>
          <a:prstGeom prst="rect">
            <a:avLst/>
          </a:prstGeom>
          <a:solidFill>
            <a:srgbClr val="0D2E26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8872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109728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920240" y="130891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🌐  Live Application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1920240" y="19659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visit → https://safar-ai-smart-route.streamlit.app/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solidFill>
            <a:srgbClr val="1A1F2E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807208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600200" y="303580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github.com/hamzaali-712/Safar-AI-Smart-Route-Predictor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1371600" y="3657600"/>
            <a:ext cx="457200" cy="457200"/>
          </a:xfrm>
          <a:prstGeom prst="ellipse">
            <a:avLst/>
          </a:prstGeom>
          <a:solidFill>
            <a:srgbClr val="009E7F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1"/>
          <p:cNvSpPr/>
          <p:nvPr/>
        </p:nvSpPr>
        <p:spPr>
          <a:xfrm>
            <a:off x="13716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77240" y="41879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to GitHub repository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291840" y="3657600"/>
            <a:ext cx="457200" cy="457200"/>
          </a:xfrm>
          <a:prstGeom prst="ellipse">
            <a:avLst/>
          </a:prstGeom>
          <a:solidFill>
            <a:srgbClr val="009E7F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4"/>
          <p:cNvSpPr/>
          <p:nvPr/>
        </p:nvSpPr>
        <p:spPr>
          <a:xfrm>
            <a:off x="32918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2697480" y="41879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repo on share.streamlit.io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212080" y="3657600"/>
            <a:ext cx="457200" cy="457200"/>
          </a:xfrm>
          <a:prstGeom prst="ellipse">
            <a:avLst/>
          </a:prstGeom>
          <a:solidFill>
            <a:srgbClr val="009E7F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17"/>
          <p:cNvSpPr/>
          <p:nvPr/>
        </p:nvSpPr>
        <p:spPr>
          <a:xfrm>
            <a:off x="5212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617720" y="41879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ORS_API_KEY + GROQ_API_KEY in Secrets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132320" y="3657600"/>
            <a:ext cx="457200" cy="457200"/>
          </a:xfrm>
          <a:prstGeom prst="ellipse">
            <a:avLst/>
          </a:prstGeom>
          <a:solidFill>
            <a:srgbClr val="009E7F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0"/>
          <p:cNvSpPr/>
          <p:nvPr/>
        </p:nvSpPr>
        <p:spPr>
          <a:xfrm>
            <a:off x="71323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537960" y="41879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app goes live automatically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457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 AI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20040" y="23774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AI-Scored Route Intelligence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Congestion Prediction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Travel Reports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Raasta Chatbot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Deployable on Cloud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❤️ in Pakistan 🇵🇰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1440" y="44074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— Open Source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931920" y="731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393192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31920" y="2331720"/>
            <a:ext cx="1508760" cy="822960"/>
          </a:xfrm>
          <a:prstGeom prst="rect">
            <a:avLst/>
          </a:prstGeom>
          <a:solidFill>
            <a:srgbClr val="101A28"/>
          </a:solidFill>
          <a:ln w="12700">
            <a:solidFill>
              <a:srgbClr val="009E7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3931920" y="23957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Ali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931920" y="2761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124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23560" y="2331720"/>
            <a:ext cx="1508760" cy="822960"/>
          </a:xfrm>
          <a:prstGeom prst="rect">
            <a:avLst/>
          </a:prstGeom>
          <a:solidFill>
            <a:srgbClr val="101A28"/>
          </a:solidFill>
          <a:ln w="12700">
            <a:solidFill>
              <a:srgbClr val="009E7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5623560" y="23957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Shahzaib Shoaib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23560" y="2761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098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15200" y="2331720"/>
            <a:ext cx="1508760" cy="822960"/>
          </a:xfrm>
          <a:prstGeom prst="rect">
            <a:avLst/>
          </a:prstGeom>
          <a:solidFill>
            <a:srgbClr val="101A28"/>
          </a:solidFill>
          <a:ln w="12700">
            <a:solidFill>
              <a:srgbClr val="009E7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7315200" y="23957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Adnan Shah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315200" y="2761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065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931920" y="32918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 — Wah Campus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931920" y="3593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Software Engineering  |  2026</a:t>
            </a:r>
            <a:endParaRPr lang="en-US" sz="9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06908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434840" y="4087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safar-ai-smart-route.streamlit.app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407408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434840" y="44256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github.com/hamzaali-712/Safar-AI-Smart-Route-Predictor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785</Words>
  <Application>Microsoft Office PowerPoint</Application>
  <PresentationFormat>On-screen Show (16:9)</PresentationFormat>
  <Paragraphs>198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Safar AI — Smart Route Predictor</dc:title>
  <dc:subject>PptxGenJS Presentation</dc:subject>
  <dc:creator>Hamza Ali, Shahzaib Shoaib, Adnan Shah</dc:creator>
  <cp:lastModifiedBy>Hamza Khan</cp:lastModifiedBy>
  <cp:revision>2</cp:revision>
  <dcterms:created xsi:type="dcterms:W3CDTF">2026-05-20T09:56:55Z</dcterms:created>
  <dcterms:modified xsi:type="dcterms:W3CDTF">2026-05-20T10:09:14Z</dcterms:modified>
</cp:coreProperties>
</file>